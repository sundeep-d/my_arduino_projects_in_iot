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11/25/2017</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transition spd="slow">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11/25/2017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11/25/2017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11/25/2017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11/25/2017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11/25/2017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11/25/2017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11/25/2017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11/25/2017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11/25/2017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11/25/2017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randomBa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11/25/2017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transition spd="slow">
    <p:randomBar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11/25/2017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randomBar dir="vert"/>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11/25/2017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randomBar dir="vert"/>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11/25/2017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randomBar dir="vert"/>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11/25/2017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randomBar dir="vert"/>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11/25/2017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11/25/2017</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ransition spd="slow">
    <p:randomBar dir="vert"/>
  </p:transition>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Electronics" TargetMode="External"/><Relationship Id="rId2" Type="http://schemas.openxmlformats.org/officeDocument/2006/relationships/image" Target="../media/image6.jpg"/><Relationship Id="rId1" Type="http://schemas.openxmlformats.org/officeDocument/2006/relationships/slideLayout" Target="../slideLayouts/slideLayout9.xml"/><Relationship Id="rId5" Type="http://schemas.openxmlformats.org/officeDocument/2006/relationships/hyperlink" Target="https://en.wikipedia.org/wiki/Telemetering" TargetMode="External"/><Relationship Id="rId4" Type="http://schemas.openxmlformats.org/officeDocument/2006/relationships/hyperlink" Target="https://en.wikipedia.org/wiki/Electric_energy"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E9D8E-9A1D-4F68-AC01-B69F7A7B3300}"/>
              </a:ext>
            </a:extLst>
          </p:cNvPr>
          <p:cNvSpPr>
            <a:spLocks noGrp="1"/>
          </p:cNvSpPr>
          <p:nvPr>
            <p:ph type="ctrTitle"/>
          </p:nvPr>
        </p:nvSpPr>
        <p:spPr>
          <a:xfrm>
            <a:off x="1876424" y="459754"/>
            <a:ext cx="8791575" cy="2387600"/>
          </a:xfrm>
        </p:spPr>
        <p:txBody>
          <a:bodyPr/>
          <a:lstStyle/>
          <a:p>
            <a:r>
              <a:rPr lang="en-IN" dirty="0">
                <a:solidFill>
                  <a:schemeClr val="bg2">
                    <a:lumMod val="75000"/>
                  </a:schemeClr>
                </a:solidFill>
                <a:latin typeface="Mistral" panose="03090702030407020403" pitchFamily="66" charset="0"/>
              </a:rPr>
              <a:t>Smart Electric Meter</a:t>
            </a:r>
          </a:p>
        </p:txBody>
      </p:sp>
      <p:sp>
        <p:nvSpPr>
          <p:cNvPr id="3" name="Subtitle 2">
            <a:extLst>
              <a:ext uri="{FF2B5EF4-FFF2-40B4-BE49-F238E27FC236}">
                <a16:creationId xmlns:a16="http://schemas.microsoft.com/office/drawing/2014/main" id="{55BE632E-9728-44F0-8312-9C833E927227}"/>
              </a:ext>
            </a:extLst>
          </p:cNvPr>
          <p:cNvSpPr>
            <a:spLocks noGrp="1"/>
          </p:cNvSpPr>
          <p:nvPr>
            <p:ph type="subTitle" idx="1"/>
          </p:nvPr>
        </p:nvSpPr>
        <p:spPr>
          <a:xfrm>
            <a:off x="1876424" y="3602038"/>
            <a:ext cx="8791575" cy="2692745"/>
          </a:xfrm>
        </p:spPr>
        <p:txBody>
          <a:bodyPr>
            <a:normAutofit/>
          </a:bodyPr>
          <a:lstStyle/>
          <a:p>
            <a:r>
              <a:rPr lang="en-IN" dirty="0"/>
              <a:t>	</a:t>
            </a:r>
            <a:r>
              <a:rPr lang="en-IN" sz="2800" dirty="0">
                <a:solidFill>
                  <a:schemeClr val="bg1">
                    <a:lumMod val="85000"/>
                    <a:lumOff val="15000"/>
                  </a:schemeClr>
                </a:solidFill>
                <a:latin typeface="Gabriola" panose="04040605051002020D02" pitchFamily="82" charset="0"/>
              </a:rPr>
              <a:t>Developed by</a:t>
            </a:r>
          </a:p>
          <a:p>
            <a:r>
              <a:rPr lang="en-IN" sz="2800" dirty="0">
                <a:solidFill>
                  <a:schemeClr val="bg1">
                    <a:lumMod val="85000"/>
                    <a:lumOff val="15000"/>
                  </a:schemeClr>
                </a:solidFill>
                <a:latin typeface="Gabriola" panose="04040605051002020D02" pitchFamily="82" charset="0"/>
              </a:rPr>
              <a:t>		Sundeep D 	  Rahul S	Pradeep raj M</a:t>
            </a:r>
          </a:p>
          <a:p>
            <a:r>
              <a:rPr lang="en-IN" dirty="0"/>
              <a:t>		</a:t>
            </a:r>
            <a:r>
              <a:rPr lang="en-IN" dirty="0">
                <a:solidFill>
                  <a:schemeClr val="tx2">
                    <a:lumMod val="75000"/>
                  </a:schemeClr>
                </a:solidFill>
              </a:rPr>
              <a:t>    </a:t>
            </a:r>
            <a:r>
              <a:rPr lang="en-IN" sz="2800" dirty="0">
                <a:solidFill>
                  <a:schemeClr val="tx2">
                    <a:lumMod val="75000"/>
                  </a:schemeClr>
                </a:solidFill>
                <a:latin typeface="Gabriola" panose="04040605051002020D02" pitchFamily="82" charset="0"/>
              </a:rPr>
              <a:t>Panimalar Engineering college</a:t>
            </a:r>
          </a:p>
        </p:txBody>
      </p:sp>
    </p:spTree>
    <p:extLst>
      <p:ext uri="{BB962C8B-B14F-4D97-AF65-F5344CB8AC3E}">
        <p14:creationId xmlns:p14="http://schemas.microsoft.com/office/powerpoint/2010/main" val="1466391828"/>
      </p:ext>
    </p:extLst>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2BBE3-63D3-44B0-885D-0E2EBD34ABA4}"/>
              </a:ext>
            </a:extLst>
          </p:cNvPr>
          <p:cNvSpPr>
            <a:spLocks noGrp="1"/>
          </p:cNvSpPr>
          <p:nvPr>
            <p:ph type="title"/>
          </p:nvPr>
        </p:nvSpPr>
        <p:spPr/>
        <p:txBody>
          <a:bodyPr/>
          <a:lstStyle/>
          <a:p>
            <a:r>
              <a:rPr lang="en-IN" u="sng" dirty="0">
                <a:solidFill>
                  <a:schemeClr val="bg2">
                    <a:lumMod val="75000"/>
                  </a:schemeClr>
                </a:solidFill>
                <a:latin typeface="Consolas" panose="020B0609020204030204" pitchFamily="49" charset="0"/>
              </a:rPr>
              <a:t>Components</a:t>
            </a:r>
          </a:p>
        </p:txBody>
      </p:sp>
      <p:sp>
        <p:nvSpPr>
          <p:cNvPr id="3" name="Content Placeholder 2">
            <a:extLst>
              <a:ext uri="{FF2B5EF4-FFF2-40B4-BE49-F238E27FC236}">
                <a16:creationId xmlns:a16="http://schemas.microsoft.com/office/drawing/2014/main" id="{3B59BA1D-7866-4577-A6C2-056A466FCE2F}"/>
              </a:ext>
            </a:extLst>
          </p:cNvPr>
          <p:cNvSpPr>
            <a:spLocks noGrp="1"/>
          </p:cNvSpPr>
          <p:nvPr>
            <p:ph idx="1"/>
          </p:nvPr>
        </p:nvSpPr>
        <p:spPr>
          <a:xfrm>
            <a:off x="1141412" y="2249486"/>
            <a:ext cx="9905999" cy="3989995"/>
          </a:xfrm>
        </p:spPr>
        <p:txBody>
          <a:bodyPr>
            <a:noAutofit/>
          </a:bodyPr>
          <a:lstStyle/>
          <a:p>
            <a:pPr>
              <a:buFont typeface="Wingdings" panose="05000000000000000000" pitchFamily="2" charset="2"/>
              <a:buChar char="v"/>
            </a:pPr>
            <a:r>
              <a:rPr lang="en-IN" sz="2800" dirty="0">
                <a:latin typeface="Agency FB" panose="020B0503020202020204" pitchFamily="34" charset="0"/>
              </a:rPr>
              <a:t>Arduino Uno Board</a:t>
            </a:r>
          </a:p>
          <a:p>
            <a:pPr>
              <a:buFont typeface="Wingdings" panose="05000000000000000000" pitchFamily="2" charset="2"/>
              <a:buChar char="v"/>
            </a:pPr>
            <a:r>
              <a:rPr lang="en-IN" sz="2800" dirty="0">
                <a:latin typeface="Agency FB" panose="020B0503020202020204" pitchFamily="34" charset="0"/>
              </a:rPr>
              <a:t>Current Sensor (ACS712)</a:t>
            </a:r>
          </a:p>
          <a:p>
            <a:pPr>
              <a:buFont typeface="Wingdings" panose="05000000000000000000" pitchFamily="2" charset="2"/>
              <a:buChar char="v"/>
            </a:pPr>
            <a:r>
              <a:rPr lang="en-IN" sz="2800" dirty="0">
                <a:latin typeface="Agency FB" panose="020B0503020202020204" pitchFamily="34" charset="0"/>
              </a:rPr>
              <a:t>Voltage Sensor</a:t>
            </a:r>
          </a:p>
          <a:p>
            <a:pPr>
              <a:buFont typeface="Wingdings" panose="05000000000000000000" pitchFamily="2" charset="2"/>
              <a:buChar char="v"/>
            </a:pPr>
            <a:r>
              <a:rPr lang="en-IN" sz="2800" dirty="0">
                <a:latin typeface="Agency FB" panose="020B0503020202020204" pitchFamily="34" charset="0"/>
              </a:rPr>
              <a:t>LCD Display (16x2)</a:t>
            </a:r>
          </a:p>
          <a:p>
            <a:pPr>
              <a:buFont typeface="Wingdings" panose="05000000000000000000" pitchFamily="2" charset="2"/>
              <a:buChar char="v"/>
            </a:pPr>
            <a:r>
              <a:rPr lang="en-IN" sz="2800" dirty="0">
                <a:latin typeface="Agency FB" panose="020B0503020202020204" pitchFamily="34" charset="0"/>
              </a:rPr>
              <a:t>Battery (9V)</a:t>
            </a:r>
          </a:p>
          <a:p>
            <a:pPr>
              <a:buFont typeface="Wingdings" panose="05000000000000000000" pitchFamily="2" charset="2"/>
              <a:buChar char="v"/>
            </a:pPr>
            <a:r>
              <a:rPr lang="en-IN" sz="2800" dirty="0">
                <a:latin typeface="Agency FB" panose="020B0503020202020204" pitchFamily="34" charset="0"/>
              </a:rPr>
              <a:t>Plug, Jumper wires</a:t>
            </a:r>
            <a:r>
              <a:rPr lang="en-IN" sz="2800" dirty="0"/>
              <a:t>. </a:t>
            </a:r>
          </a:p>
        </p:txBody>
      </p:sp>
    </p:spTree>
    <p:extLst>
      <p:ext uri="{BB962C8B-B14F-4D97-AF65-F5344CB8AC3E}">
        <p14:creationId xmlns:p14="http://schemas.microsoft.com/office/powerpoint/2010/main" val="57952175"/>
      </p:ext>
    </p:extLst>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4DA71-7599-4978-984A-041E178EC117}"/>
              </a:ext>
            </a:extLst>
          </p:cNvPr>
          <p:cNvSpPr>
            <a:spLocks noGrp="1"/>
          </p:cNvSpPr>
          <p:nvPr>
            <p:ph type="title"/>
          </p:nvPr>
        </p:nvSpPr>
        <p:spPr>
          <a:xfrm>
            <a:off x="889621" y="525752"/>
            <a:ext cx="9905998" cy="878978"/>
          </a:xfrm>
        </p:spPr>
        <p:txBody>
          <a:bodyPr/>
          <a:lstStyle/>
          <a:p>
            <a:r>
              <a:rPr lang="en-IN" u="sng" dirty="0">
                <a:solidFill>
                  <a:schemeClr val="bg2">
                    <a:lumMod val="75000"/>
                  </a:schemeClr>
                </a:solidFill>
                <a:latin typeface="Impact" panose="020B0806030902050204" pitchFamily="34" charset="0"/>
              </a:rPr>
              <a:t>Current and voltage sensor</a:t>
            </a:r>
          </a:p>
        </p:txBody>
      </p:sp>
      <p:pic>
        <p:nvPicPr>
          <p:cNvPr id="6" name="Content Placeholder 5">
            <a:extLst>
              <a:ext uri="{FF2B5EF4-FFF2-40B4-BE49-F238E27FC236}">
                <a16:creationId xmlns:a16="http://schemas.microsoft.com/office/drawing/2014/main" id="{1B461649-8774-429B-8E05-E47F80026582}"/>
              </a:ext>
            </a:extLst>
          </p:cNvPr>
          <p:cNvPicPr>
            <a:picLocks noGrp="1" noChangeAspect="1"/>
          </p:cNvPicPr>
          <p:nvPr>
            <p:ph sz="half" idx="1"/>
          </p:nvPr>
        </p:nvPicPr>
        <p:blipFill>
          <a:blip r:embed="rId2"/>
          <a:stretch>
            <a:fillRect/>
          </a:stretch>
        </p:blipFill>
        <p:spPr>
          <a:xfrm>
            <a:off x="1067628" y="1404730"/>
            <a:ext cx="3668298" cy="2161251"/>
          </a:xfrm>
        </p:spPr>
      </p:pic>
      <p:pic>
        <p:nvPicPr>
          <p:cNvPr id="8" name="Content Placeholder 7">
            <a:extLst>
              <a:ext uri="{FF2B5EF4-FFF2-40B4-BE49-F238E27FC236}">
                <a16:creationId xmlns:a16="http://schemas.microsoft.com/office/drawing/2014/main" id="{5750EEEB-A77A-494F-A04E-AB81014F6C9A}"/>
              </a:ext>
            </a:extLst>
          </p:cNvPr>
          <p:cNvPicPr>
            <a:picLocks noGrp="1" noChangeAspect="1"/>
          </p:cNvPicPr>
          <p:nvPr>
            <p:ph sz="half" idx="2"/>
          </p:nvPr>
        </p:nvPicPr>
        <p:blipFill>
          <a:blip r:embed="rId3"/>
          <a:stretch>
            <a:fillRect/>
          </a:stretch>
        </p:blipFill>
        <p:spPr>
          <a:xfrm>
            <a:off x="1067628" y="3868488"/>
            <a:ext cx="3668298" cy="2161251"/>
          </a:xfrm>
        </p:spPr>
      </p:pic>
      <p:sp>
        <p:nvSpPr>
          <p:cNvPr id="11" name="Rectangle: Rounded Corners 10">
            <a:extLst>
              <a:ext uri="{FF2B5EF4-FFF2-40B4-BE49-F238E27FC236}">
                <a16:creationId xmlns:a16="http://schemas.microsoft.com/office/drawing/2014/main" id="{97D39C83-BF76-4710-AB19-DFCFF8CA5A5C}"/>
              </a:ext>
            </a:extLst>
          </p:cNvPr>
          <p:cNvSpPr/>
          <p:nvPr/>
        </p:nvSpPr>
        <p:spPr>
          <a:xfrm>
            <a:off x="5155096" y="1404730"/>
            <a:ext cx="5406887" cy="2161251"/>
          </a:xfrm>
          <a:prstGeom prst="roundRect">
            <a:avLst/>
          </a:prstGeom>
          <a:ln>
            <a:solidFill>
              <a:schemeClr val="accent4"/>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IN" dirty="0"/>
              <a:t>A </a:t>
            </a:r>
            <a:r>
              <a:rPr lang="en-IN" b="1" dirty="0"/>
              <a:t>current sensor</a:t>
            </a:r>
            <a:r>
              <a:rPr lang="en-IN" dirty="0"/>
              <a:t> is a device that detects </a:t>
            </a:r>
            <a:r>
              <a:rPr lang="en-IN" b="1" dirty="0"/>
              <a:t>electric current</a:t>
            </a:r>
            <a:r>
              <a:rPr lang="en-IN" dirty="0"/>
              <a:t> in a wire, and generates a signal proportional to that current. The generated signal could be analog voltage or current or even a digital output. The sensor we used here is named as </a:t>
            </a:r>
            <a:r>
              <a:rPr lang="en-IN" b="1" dirty="0"/>
              <a:t>ACS712</a:t>
            </a:r>
          </a:p>
        </p:txBody>
      </p:sp>
      <p:sp>
        <p:nvSpPr>
          <p:cNvPr id="12" name="Rectangle: Rounded Corners 11">
            <a:extLst>
              <a:ext uri="{FF2B5EF4-FFF2-40B4-BE49-F238E27FC236}">
                <a16:creationId xmlns:a16="http://schemas.microsoft.com/office/drawing/2014/main" id="{D52CCBCC-A1D7-4307-A94F-B4C5B29D53C3}"/>
              </a:ext>
            </a:extLst>
          </p:cNvPr>
          <p:cNvSpPr/>
          <p:nvPr/>
        </p:nvSpPr>
        <p:spPr>
          <a:xfrm>
            <a:off x="5155096" y="3896139"/>
            <a:ext cx="5314121" cy="2133599"/>
          </a:xfrm>
          <a:prstGeom prst="roundRect">
            <a:avLst/>
          </a:prstGeom>
          <a:ln>
            <a:solidFill>
              <a:schemeClr val="accent4"/>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IN" dirty="0"/>
              <a:t>A </a:t>
            </a:r>
            <a:r>
              <a:rPr lang="en-IN" b="1" dirty="0"/>
              <a:t>voltage sensor </a:t>
            </a:r>
            <a:r>
              <a:rPr lang="en-IN" dirty="0"/>
              <a:t>can measure AC level or/and DC voltage level. The input to the voltage sensor is the voltage itself and the output can be analog voltage signals, switches, audible signals, analog current level, frequency or even frequency modulated outputs. </a:t>
            </a:r>
          </a:p>
        </p:txBody>
      </p:sp>
    </p:spTree>
    <p:extLst>
      <p:ext uri="{BB962C8B-B14F-4D97-AF65-F5344CB8AC3E}">
        <p14:creationId xmlns:p14="http://schemas.microsoft.com/office/powerpoint/2010/main" val="986304132"/>
      </p:ext>
    </p:extLst>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058EE-CB8B-4377-9906-DC5DE6280B83}"/>
              </a:ext>
            </a:extLst>
          </p:cNvPr>
          <p:cNvSpPr>
            <a:spLocks noGrp="1"/>
          </p:cNvSpPr>
          <p:nvPr>
            <p:ph type="title"/>
          </p:nvPr>
        </p:nvSpPr>
        <p:spPr>
          <a:xfrm>
            <a:off x="938006" y="516835"/>
            <a:ext cx="4273434" cy="702364"/>
          </a:xfrm>
        </p:spPr>
        <p:txBody>
          <a:bodyPr>
            <a:normAutofit/>
          </a:bodyPr>
          <a:lstStyle/>
          <a:p>
            <a:r>
              <a:rPr lang="en-IN" u="sng" dirty="0">
                <a:solidFill>
                  <a:schemeClr val="accent5">
                    <a:lumMod val="50000"/>
                  </a:schemeClr>
                </a:solidFill>
                <a:latin typeface="Consolas" panose="020B0609020204030204" pitchFamily="49" charset="0"/>
                <a:ea typeface="Segoe UI Emoji" panose="020B0502040204020203" pitchFamily="34" charset="0"/>
                <a:cs typeface="MV Boli" panose="02000500030200090000" pitchFamily="2" charset="0"/>
              </a:rPr>
              <a:t>Arduino Uno board</a:t>
            </a:r>
          </a:p>
        </p:txBody>
      </p:sp>
      <p:sp>
        <p:nvSpPr>
          <p:cNvPr id="4" name="Text Placeholder 3">
            <a:extLst>
              <a:ext uri="{FF2B5EF4-FFF2-40B4-BE49-F238E27FC236}">
                <a16:creationId xmlns:a16="http://schemas.microsoft.com/office/drawing/2014/main" id="{9BEFB604-0CE2-492A-854C-BA9B4554481E}"/>
              </a:ext>
            </a:extLst>
          </p:cNvPr>
          <p:cNvSpPr>
            <a:spLocks noGrp="1"/>
          </p:cNvSpPr>
          <p:nvPr>
            <p:ph type="body" sz="half" idx="2"/>
          </p:nvPr>
        </p:nvSpPr>
        <p:spPr>
          <a:xfrm>
            <a:off x="938006" y="1590263"/>
            <a:ext cx="4273434" cy="4552119"/>
          </a:xfrm>
        </p:spPr>
        <p:txBody>
          <a:bodyPr>
            <a:noAutofit/>
          </a:bodyPr>
          <a:lstStyle/>
          <a:p>
            <a:pPr marL="285750" indent="-285750">
              <a:buFont typeface="Wingdings" panose="05000000000000000000" pitchFamily="2" charset="2"/>
              <a:buChar char="Ø"/>
            </a:pPr>
            <a:r>
              <a:rPr lang="en-IN" sz="1800" dirty="0">
                <a:solidFill>
                  <a:schemeClr val="bg1">
                    <a:lumMod val="95000"/>
                    <a:lumOff val="5000"/>
                  </a:schemeClr>
                </a:solidFill>
                <a:latin typeface="Century" panose="02040604050505020304" pitchFamily="18" charset="0"/>
                <a:cs typeface="Dubai Medium" panose="020B0603030403030204" pitchFamily="34" charset="-78"/>
              </a:rPr>
              <a:t>The </a:t>
            </a:r>
            <a:r>
              <a:rPr lang="en-IN" sz="1800" b="1" dirty="0">
                <a:solidFill>
                  <a:schemeClr val="bg1">
                    <a:lumMod val="95000"/>
                    <a:lumOff val="5000"/>
                  </a:schemeClr>
                </a:solidFill>
                <a:latin typeface="Century" panose="02040604050505020304" pitchFamily="18" charset="0"/>
                <a:cs typeface="Dubai Medium" panose="020B0603030403030204" pitchFamily="34" charset="-78"/>
              </a:rPr>
              <a:t>Arduino Uno</a:t>
            </a:r>
            <a:r>
              <a:rPr lang="en-IN" sz="1800" dirty="0">
                <a:solidFill>
                  <a:schemeClr val="bg1">
                    <a:lumMod val="95000"/>
                    <a:lumOff val="5000"/>
                  </a:schemeClr>
                </a:solidFill>
                <a:latin typeface="Century" panose="02040604050505020304" pitchFamily="18" charset="0"/>
                <a:cs typeface="Dubai Medium" panose="020B0603030403030204" pitchFamily="34" charset="-78"/>
              </a:rPr>
              <a:t> board is a microcontroller based on the ATmega328. It has 14 digital input/output pins.</a:t>
            </a:r>
          </a:p>
          <a:p>
            <a:pPr marL="285750" indent="-285750">
              <a:buFont typeface="Wingdings" panose="05000000000000000000" pitchFamily="2" charset="2"/>
              <a:buChar char="Ø"/>
            </a:pPr>
            <a:r>
              <a:rPr lang="en-IN" sz="1800" dirty="0">
                <a:solidFill>
                  <a:schemeClr val="bg1">
                    <a:lumMod val="95000"/>
                    <a:lumOff val="5000"/>
                  </a:schemeClr>
                </a:solidFill>
                <a:latin typeface="Century" panose="02040604050505020304" pitchFamily="18" charset="0"/>
                <a:cs typeface="Dubai Medium" panose="020B0603030403030204" pitchFamily="34" charset="-78"/>
              </a:rPr>
              <a:t>Arduino is an open-source electronics platform based on easy-to-use hardware and software</a:t>
            </a:r>
          </a:p>
          <a:p>
            <a:pPr marL="285750" indent="-285750">
              <a:buFont typeface="Wingdings" panose="05000000000000000000" pitchFamily="2" charset="2"/>
              <a:buChar char="Ø"/>
            </a:pPr>
            <a:r>
              <a:rPr lang="en-IN" sz="1800" dirty="0">
                <a:solidFill>
                  <a:schemeClr val="bg1">
                    <a:lumMod val="95000"/>
                    <a:lumOff val="5000"/>
                  </a:schemeClr>
                </a:solidFill>
                <a:latin typeface="Century" panose="02040604050505020304" pitchFamily="18" charset="0"/>
                <a:cs typeface="Dubai Medium" panose="020B0603030403030204" pitchFamily="34" charset="-78"/>
              </a:rPr>
              <a:t>Arduino senses the environment by receiving inputs from many sensors, and affects its surroundings by controlling lights, motors, and other actuators.</a:t>
            </a:r>
          </a:p>
        </p:txBody>
      </p:sp>
      <p:pic>
        <p:nvPicPr>
          <p:cNvPr id="10" name="Content Placeholder 9" descr="A circuit board&#10;&#10;Description generated with very high confidence">
            <a:extLst>
              <a:ext uri="{FF2B5EF4-FFF2-40B4-BE49-F238E27FC236}">
                <a16:creationId xmlns:a16="http://schemas.microsoft.com/office/drawing/2014/main" id="{0E901D4E-2062-4EE3-B43B-B9D0586B6C5B}"/>
              </a:ext>
            </a:extLst>
          </p:cNvPr>
          <p:cNvPicPr>
            <a:picLocks noGrp="1" noChangeAspect="1"/>
          </p:cNvPicPr>
          <p:nvPr>
            <p:ph idx="1"/>
          </p:nvPr>
        </p:nvPicPr>
        <p:blipFill>
          <a:blip r:embed="rId2"/>
          <a:stretch>
            <a:fillRect/>
          </a:stretch>
        </p:blipFill>
        <p:spPr>
          <a:xfrm rot="5400000">
            <a:off x="5406884" y="1417983"/>
            <a:ext cx="4572002" cy="4174435"/>
          </a:xfrm>
        </p:spPr>
      </p:pic>
    </p:spTree>
    <p:extLst>
      <p:ext uri="{BB962C8B-B14F-4D97-AF65-F5344CB8AC3E}">
        <p14:creationId xmlns:p14="http://schemas.microsoft.com/office/powerpoint/2010/main" val="2497908663"/>
      </p:ext>
    </p:extLst>
  </p:cSld>
  <p:clrMapOvr>
    <a:masterClrMapping/>
  </p:clrMapOvr>
  <p:transition spd="slow">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97541-4975-4B27-87AD-EE05AE332AA8}"/>
              </a:ext>
            </a:extLst>
          </p:cNvPr>
          <p:cNvSpPr>
            <a:spLocks noGrp="1"/>
          </p:cNvSpPr>
          <p:nvPr>
            <p:ph type="title"/>
          </p:nvPr>
        </p:nvSpPr>
        <p:spPr>
          <a:xfrm>
            <a:off x="1141410" y="152401"/>
            <a:ext cx="3072781" cy="457200"/>
          </a:xfrm>
        </p:spPr>
        <p:txBody>
          <a:bodyPr>
            <a:normAutofit fontScale="90000"/>
          </a:bodyPr>
          <a:lstStyle/>
          <a:p>
            <a:r>
              <a:rPr lang="en-IN" b="1" u="sng" dirty="0">
                <a:solidFill>
                  <a:schemeClr val="bg2">
                    <a:lumMod val="75000"/>
                  </a:schemeClr>
                </a:solidFill>
                <a:latin typeface="Courier New" panose="02070309020205020404" pitchFamily="49" charset="0"/>
                <a:cs typeface="Courier New" panose="02070309020205020404" pitchFamily="49" charset="0"/>
              </a:rPr>
              <a:t>Prototype</a:t>
            </a:r>
          </a:p>
        </p:txBody>
      </p:sp>
      <p:pic>
        <p:nvPicPr>
          <p:cNvPr id="6" name="Picture Placeholder 5" descr="A circuit board&#10;&#10;Description generated with high confidence">
            <a:extLst>
              <a:ext uri="{FF2B5EF4-FFF2-40B4-BE49-F238E27FC236}">
                <a16:creationId xmlns:a16="http://schemas.microsoft.com/office/drawing/2014/main" id="{E8CCF2AA-C37C-47A3-831B-B3194C36D31E}"/>
              </a:ext>
            </a:extLst>
          </p:cNvPr>
          <p:cNvPicPr>
            <a:picLocks noGrp="1" noChangeAspect="1"/>
          </p:cNvPicPr>
          <p:nvPr>
            <p:ph type="pic" idx="1"/>
          </p:nvPr>
        </p:nvPicPr>
        <p:blipFill>
          <a:blip r:embed="rId2"/>
          <a:srcRect t="5071" b="5071"/>
          <a:stretch>
            <a:fillRect/>
          </a:stretch>
        </p:blipFill>
        <p:spPr>
          <a:xfrm>
            <a:off x="5989982" y="384313"/>
            <a:ext cx="5299147" cy="5840897"/>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4" name="Text Placeholder 3">
            <a:extLst>
              <a:ext uri="{FF2B5EF4-FFF2-40B4-BE49-F238E27FC236}">
                <a16:creationId xmlns:a16="http://schemas.microsoft.com/office/drawing/2014/main" id="{4A4B65A3-C6F5-4EDF-AE6A-A693F44B52CB}"/>
              </a:ext>
            </a:extLst>
          </p:cNvPr>
          <p:cNvSpPr>
            <a:spLocks noGrp="1"/>
          </p:cNvSpPr>
          <p:nvPr>
            <p:ph type="body" sz="half" idx="2"/>
          </p:nvPr>
        </p:nvSpPr>
        <p:spPr>
          <a:xfrm>
            <a:off x="781878" y="887895"/>
            <a:ext cx="5102087" cy="5473147"/>
          </a:xfrm>
        </p:spPr>
        <p:txBody>
          <a:bodyPr>
            <a:noAutofit/>
          </a:bodyPr>
          <a:lstStyle/>
          <a:p>
            <a:pPr marL="285750" indent="-285750">
              <a:buFont typeface="Courier New" panose="02070309020205020404" pitchFamily="49" charset="0"/>
              <a:buChar char="o"/>
            </a:pPr>
            <a:r>
              <a:rPr lang="en-IN" dirty="0">
                <a:solidFill>
                  <a:schemeClr val="accent3">
                    <a:lumMod val="50000"/>
                  </a:schemeClr>
                </a:solidFill>
              </a:rPr>
              <a:t>A </a:t>
            </a:r>
            <a:r>
              <a:rPr lang="en-IN" b="1" dirty="0">
                <a:solidFill>
                  <a:schemeClr val="accent3">
                    <a:lumMod val="50000"/>
                  </a:schemeClr>
                </a:solidFill>
              </a:rPr>
              <a:t>smart meter</a:t>
            </a:r>
            <a:r>
              <a:rPr lang="en-IN" dirty="0">
                <a:solidFill>
                  <a:schemeClr val="accent3">
                    <a:lumMod val="50000"/>
                  </a:schemeClr>
                </a:solidFill>
              </a:rPr>
              <a:t> is an </a:t>
            </a:r>
            <a:r>
              <a:rPr lang="en-IN" dirty="0">
                <a:solidFill>
                  <a:schemeClr val="accent3">
                    <a:lumMod val="50000"/>
                  </a:schemeClr>
                </a:solidFill>
                <a:hlinkClick r:id="rId3" tooltip="Electronics"/>
              </a:rPr>
              <a:t>electronic</a:t>
            </a:r>
            <a:r>
              <a:rPr lang="en-IN" dirty="0">
                <a:solidFill>
                  <a:schemeClr val="accent3">
                    <a:lumMod val="50000"/>
                  </a:schemeClr>
                </a:solidFill>
              </a:rPr>
              <a:t> device that records consumption of </a:t>
            </a:r>
            <a:r>
              <a:rPr lang="en-IN" dirty="0">
                <a:solidFill>
                  <a:schemeClr val="accent3">
                    <a:lumMod val="50000"/>
                  </a:schemeClr>
                </a:solidFill>
                <a:hlinkClick r:id="rId4" tooltip="Electric energy"/>
              </a:rPr>
              <a:t>electric energy</a:t>
            </a:r>
            <a:r>
              <a:rPr lang="en-IN" dirty="0">
                <a:solidFill>
                  <a:schemeClr val="accent3">
                    <a:lumMod val="50000"/>
                  </a:schemeClr>
                </a:solidFill>
              </a:rPr>
              <a:t> in intervals of an hour or less and </a:t>
            </a:r>
            <a:r>
              <a:rPr lang="en-IN" dirty="0">
                <a:solidFill>
                  <a:schemeClr val="accent3">
                    <a:lumMod val="50000"/>
                  </a:schemeClr>
                </a:solidFill>
                <a:hlinkClick r:id="rId5" tooltip="Telemetering"/>
              </a:rPr>
              <a:t>communicates that information </a:t>
            </a:r>
            <a:r>
              <a:rPr lang="en-IN" dirty="0">
                <a:solidFill>
                  <a:schemeClr val="accent3">
                    <a:lumMod val="50000"/>
                  </a:schemeClr>
                </a:solidFill>
              </a:rPr>
              <a:t>at least daily back to the utility for monitoring and billing.</a:t>
            </a:r>
          </a:p>
          <a:p>
            <a:pPr marL="285750" indent="-285750">
              <a:buFont typeface="Courier New" panose="02070309020205020404" pitchFamily="49" charset="0"/>
              <a:buChar char="o"/>
            </a:pPr>
            <a:r>
              <a:rPr lang="en-IN" dirty="0">
                <a:solidFill>
                  <a:schemeClr val="accent3">
                    <a:lumMod val="50000"/>
                  </a:schemeClr>
                </a:solidFill>
              </a:rPr>
              <a:t>It is built with two sensors such that the current and voltage can be sensed and the output value is connected to the Arduino Uno.</a:t>
            </a:r>
          </a:p>
          <a:p>
            <a:pPr marL="285750" indent="-285750">
              <a:buFont typeface="Courier New" panose="02070309020205020404" pitchFamily="49" charset="0"/>
              <a:buChar char="o"/>
            </a:pPr>
            <a:r>
              <a:rPr lang="en-IN" dirty="0">
                <a:solidFill>
                  <a:schemeClr val="accent3">
                    <a:lumMod val="50000"/>
                  </a:schemeClr>
                </a:solidFill>
              </a:rPr>
              <a:t>The Arduino is programmed in a way that calculates the power from the sensor output (P=V*I) and is made to display on the LCD.</a:t>
            </a:r>
          </a:p>
          <a:p>
            <a:pPr marL="285750" indent="-285750">
              <a:buFont typeface="Courier New" panose="02070309020205020404" pitchFamily="49" charset="0"/>
              <a:buChar char="o"/>
            </a:pPr>
            <a:r>
              <a:rPr lang="en-IN" dirty="0">
                <a:solidFill>
                  <a:schemeClr val="accent3">
                    <a:lumMod val="50000"/>
                  </a:schemeClr>
                </a:solidFill>
              </a:rPr>
              <a:t>With the power units calculated in KWh the amount to be paid is calculated based on the consumption of units with standard tariffs.</a:t>
            </a:r>
          </a:p>
          <a:p>
            <a:pPr marL="285750" indent="-285750">
              <a:buFont typeface="Courier New" panose="02070309020205020404" pitchFamily="49" charset="0"/>
              <a:buChar char="o"/>
            </a:pPr>
            <a:r>
              <a:rPr lang="en-IN" dirty="0">
                <a:solidFill>
                  <a:schemeClr val="accent3">
                    <a:lumMod val="50000"/>
                  </a:schemeClr>
                </a:solidFill>
              </a:rPr>
              <a:t>The values are updated in Thingspeak so that the readings and cost can be known from anywhere through Thingview application with our unique channel ID.</a:t>
            </a:r>
          </a:p>
        </p:txBody>
      </p:sp>
    </p:spTree>
    <p:extLst>
      <p:ext uri="{BB962C8B-B14F-4D97-AF65-F5344CB8AC3E}">
        <p14:creationId xmlns:p14="http://schemas.microsoft.com/office/powerpoint/2010/main" val="345045484"/>
      </p:ext>
    </p:extLst>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B52B0-CAB4-4574-A64E-263838BDD5C0}"/>
              </a:ext>
            </a:extLst>
          </p:cNvPr>
          <p:cNvSpPr>
            <a:spLocks noGrp="1"/>
          </p:cNvSpPr>
          <p:nvPr>
            <p:ph type="title"/>
          </p:nvPr>
        </p:nvSpPr>
        <p:spPr>
          <a:xfrm>
            <a:off x="1141410" y="381000"/>
            <a:ext cx="5934508" cy="457200"/>
          </a:xfrm>
        </p:spPr>
        <p:txBody>
          <a:bodyPr>
            <a:normAutofit fontScale="90000"/>
          </a:bodyPr>
          <a:lstStyle/>
          <a:p>
            <a:r>
              <a:rPr lang="en-IN" b="1" u="sng" dirty="0">
                <a:solidFill>
                  <a:schemeClr val="accent4">
                    <a:lumMod val="50000"/>
                  </a:schemeClr>
                </a:solidFill>
              </a:rPr>
              <a:t>Coding</a:t>
            </a:r>
          </a:p>
        </p:txBody>
      </p:sp>
      <p:pic>
        <p:nvPicPr>
          <p:cNvPr id="6" name="Picture Placeholder 5" descr="A screenshot of a computer&#10;&#10;Description generated with very high confidence">
            <a:extLst>
              <a:ext uri="{FF2B5EF4-FFF2-40B4-BE49-F238E27FC236}">
                <a16:creationId xmlns:a16="http://schemas.microsoft.com/office/drawing/2014/main" id="{1C6B091C-5454-49D5-95AE-191F80DF53A1}"/>
              </a:ext>
            </a:extLst>
          </p:cNvPr>
          <p:cNvPicPr>
            <a:picLocks noGrp="1" noChangeAspect="1"/>
          </p:cNvPicPr>
          <p:nvPr>
            <p:ph type="pic" idx="1"/>
          </p:nvPr>
        </p:nvPicPr>
        <p:blipFill rotWithShape="1">
          <a:blip r:embed="rId2"/>
          <a:srcRect l="493" r="59717" b="20460"/>
          <a:stretch/>
        </p:blipFill>
        <p:spPr>
          <a:xfrm>
            <a:off x="7275446" y="780223"/>
            <a:ext cx="3775144" cy="5181599"/>
          </a:xfrm>
        </p:spPr>
      </p:pic>
      <p:sp>
        <p:nvSpPr>
          <p:cNvPr id="4" name="Text Placeholder 3">
            <a:extLst>
              <a:ext uri="{FF2B5EF4-FFF2-40B4-BE49-F238E27FC236}">
                <a16:creationId xmlns:a16="http://schemas.microsoft.com/office/drawing/2014/main" id="{E7558C3C-995C-454D-BCAC-E3261F9104D2}"/>
              </a:ext>
            </a:extLst>
          </p:cNvPr>
          <p:cNvSpPr>
            <a:spLocks noGrp="1"/>
          </p:cNvSpPr>
          <p:nvPr>
            <p:ph type="body" sz="half" idx="2"/>
          </p:nvPr>
        </p:nvSpPr>
        <p:spPr>
          <a:xfrm>
            <a:off x="1141410" y="952500"/>
            <a:ext cx="5934511" cy="4953000"/>
          </a:xfrm>
        </p:spPr>
        <p:txBody>
          <a:bodyPr>
            <a:normAutofit/>
          </a:bodyPr>
          <a:lstStyle/>
          <a:p>
            <a:pPr marL="285750" indent="-285750">
              <a:buFont typeface="Wingdings" panose="05000000000000000000" pitchFamily="2" charset="2"/>
              <a:buChar char="q"/>
            </a:pPr>
            <a:r>
              <a:rPr lang="en-IN" sz="1800" dirty="0">
                <a:solidFill>
                  <a:schemeClr val="bg1">
                    <a:lumMod val="85000"/>
                    <a:lumOff val="15000"/>
                  </a:schemeClr>
                </a:solidFill>
                <a:latin typeface="Dubai Medium" panose="020B0603030403030204" pitchFamily="34" charset="-78"/>
                <a:cs typeface="Dubai Medium" panose="020B0603030403030204" pitchFamily="34" charset="-78"/>
              </a:rPr>
              <a:t>The code for the smart meter is written in Arduino IDE in such a way that it calculates the power and cost and display it on the LCD.</a:t>
            </a:r>
          </a:p>
          <a:p>
            <a:pPr marL="285750" indent="-285750">
              <a:buFont typeface="Wingdings" panose="05000000000000000000" pitchFamily="2" charset="2"/>
              <a:buChar char="q"/>
            </a:pPr>
            <a:r>
              <a:rPr lang="en-IN" sz="1800" dirty="0">
                <a:solidFill>
                  <a:schemeClr val="bg1">
                    <a:lumMod val="85000"/>
                    <a:lumOff val="15000"/>
                  </a:schemeClr>
                </a:solidFill>
                <a:latin typeface="Dubai Medium" panose="020B0603030403030204" pitchFamily="34" charset="-78"/>
                <a:cs typeface="Dubai Medium" panose="020B0603030403030204" pitchFamily="34" charset="-78"/>
              </a:rPr>
              <a:t>The bill amount is calculated based units consumption and all the records are updated in the Thingspeak.</a:t>
            </a:r>
          </a:p>
          <a:p>
            <a:pPr marL="285750" indent="-285750">
              <a:buFont typeface="Wingdings" panose="05000000000000000000" pitchFamily="2" charset="2"/>
              <a:buChar char="q"/>
            </a:pPr>
            <a:r>
              <a:rPr lang="en-IN" sz="1800" dirty="0">
                <a:solidFill>
                  <a:schemeClr val="bg1">
                    <a:lumMod val="85000"/>
                    <a:lumOff val="15000"/>
                  </a:schemeClr>
                </a:solidFill>
                <a:latin typeface="Dubai Medium" panose="020B0603030403030204" pitchFamily="34" charset="-78"/>
                <a:cs typeface="Dubai Medium" panose="020B0603030403030204" pitchFamily="34" charset="-78"/>
              </a:rPr>
              <a:t>A java program is written to get the values from the Arduino with the help of the channel in thingspeak .</a:t>
            </a:r>
          </a:p>
          <a:p>
            <a:pPr marL="285750" indent="-285750">
              <a:buFont typeface="Wingdings" panose="05000000000000000000" pitchFamily="2" charset="2"/>
              <a:buChar char="q"/>
            </a:pPr>
            <a:r>
              <a:rPr lang="en-IN" sz="1800" dirty="0">
                <a:solidFill>
                  <a:schemeClr val="bg1">
                    <a:lumMod val="85000"/>
                    <a:lumOff val="15000"/>
                  </a:schemeClr>
                </a:solidFill>
                <a:latin typeface="Dubai Medium" panose="020B0603030403030204" pitchFamily="34" charset="-78"/>
                <a:cs typeface="Dubai Medium" panose="020B0603030403030204" pitchFamily="34" charset="-78"/>
              </a:rPr>
              <a:t>The readings are taken from the port where the Arduino is connected.</a:t>
            </a:r>
          </a:p>
          <a:p>
            <a:pPr marL="285750" indent="-285750">
              <a:buFont typeface="Wingdings" panose="05000000000000000000" pitchFamily="2" charset="2"/>
              <a:buChar char="q"/>
            </a:pPr>
            <a:r>
              <a:rPr lang="en-IN" sz="1800" dirty="0">
                <a:solidFill>
                  <a:schemeClr val="bg1">
                    <a:lumMod val="85000"/>
                    <a:lumOff val="15000"/>
                  </a:schemeClr>
                </a:solidFill>
                <a:latin typeface="Dubai Medium" panose="020B0603030403030204" pitchFamily="34" charset="-78"/>
                <a:cs typeface="Dubai Medium" panose="020B0603030403030204" pitchFamily="34" charset="-78"/>
              </a:rPr>
              <a:t>By mentioning the channel id and the API key in the java code we can obtain the graph of our smart meter with the values of power and cost.</a:t>
            </a:r>
          </a:p>
        </p:txBody>
      </p:sp>
    </p:spTree>
    <p:extLst>
      <p:ext uri="{BB962C8B-B14F-4D97-AF65-F5344CB8AC3E}">
        <p14:creationId xmlns:p14="http://schemas.microsoft.com/office/powerpoint/2010/main" val="404984091"/>
      </p:ext>
    </p:extLst>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C6085-58CD-4996-BA92-8F2B4633C146}"/>
              </a:ext>
            </a:extLst>
          </p:cNvPr>
          <p:cNvSpPr>
            <a:spLocks noGrp="1"/>
          </p:cNvSpPr>
          <p:nvPr>
            <p:ph type="title"/>
          </p:nvPr>
        </p:nvSpPr>
        <p:spPr>
          <a:xfrm>
            <a:off x="935311" y="922567"/>
            <a:ext cx="9906000" cy="746885"/>
          </a:xfrm>
        </p:spPr>
        <p:txBody>
          <a:bodyPr/>
          <a:lstStyle/>
          <a:p>
            <a:r>
              <a:rPr lang="en-IN" b="1" u="sng" dirty="0">
                <a:solidFill>
                  <a:schemeClr val="bg2"/>
                </a:solidFill>
              </a:rPr>
              <a:t>Advantages </a:t>
            </a:r>
          </a:p>
        </p:txBody>
      </p:sp>
      <p:sp>
        <p:nvSpPr>
          <p:cNvPr id="4" name="Rectangle 1">
            <a:extLst>
              <a:ext uri="{FF2B5EF4-FFF2-40B4-BE49-F238E27FC236}">
                <a16:creationId xmlns:a16="http://schemas.microsoft.com/office/drawing/2014/main" id="{38F888D2-12A6-46C5-9E0A-262BA36310DF}"/>
              </a:ext>
            </a:extLst>
          </p:cNvPr>
          <p:cNvSpPr>
            <a:spLocks noGrp="1" noChangeArrowheads="1"/>
          </p:cNvSpPr>
          <p:nvPr>
            <p:ph type="body" idx="1"/>
          </p:nvPr>
        </p:nvSpPr>
        <p:spPr bwMode="auto">
          <a:xfrm>
            <a:off x="1141413" y="2223522"/>
            <a:ext cx="1063660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Arial" panose="020B0604020202020204" pitchFamily="34" charset="0"/>
              </a:rPr>
              <a:t>Eliminating manual meter reading.</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Arial" panose="020B0604020202020204" pitchFamily="34" charset="0"/>
              </a:rPr>
              <a:t>Monitoring the electric system more quickly.</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Arial" panose="020B0604020202020204" pitchFamily="34" charset="0"/>
              </a:rPr>
              <a:t>Making it possible to use power resources more efficiently.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Arial" panose="020B0604020202020204" pitchFamily="34" charset="0"/>
              </a:rPr>
              <a:t>Providing real-time data useful for balancing electric loads and reducing power outages (blackouts)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dirty="0">
                <a:ln>
                  <a:noFill/>
                </a:ln>
                <a:solidFill>
                  <a:schemeClr val="tx1"/>
                </a:solidFill>
                <a:effectLst/>
                <a:latin typeface="Arial" panose="020B0604020202020204" pitchFamily="34" charset="0"/>
              </a:rPr>
              <a:t>Enabling dynamic pricing (raising or lowering the cost of electricity based on demand) .</a:t>
            </a:r>
          </a:p>
        </p:txBody>
      </p:sp>
    </p:spTree>
    <p:extLst>
      <p:ext uri="{BB962C8B-B14F-4D97-AF65-F5344CB8AC3E}">
        <p14:creationId xmlns:p14="http://schemas.microsoft.com/office/powerpoint/2010/main" val="2647605075"/>
      </p:ext>
    </p:extLst>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F7EA1-C9E3-411B-90BB-D26CB2703155}"/>
              </a:ext>
            </a:extLst>
          </p:cNvPr>
          <p:cNvSpPr>
            <a:spLocks noGrp="1"/>
          </p:cNvSpPr>
          <p:nvPr>
            <p:ph type="title"/>
          </p:nvPr>
        </p:nvSpPr>
        <p:spPr>
          <a:xfrm>
            <a:off x="1146705" y="609601"/>
            <a:ext cx="3856037" cy="569842"/>
          </a:xfrm>
        </p:spPr>
        <p:txBody>
          <a:bodyPr/>
          <a:lstStyle/>
          <a:p>
            <a:r>
              <a:rPr lang="en-IN" b="1" u="sng" dirty="0">
                <a:solidFill>
                  <a:schemeClr val="bg2"/>
                </a:solidFill>
              </a:rPr>
              <a:t>Disadvantages</a:t>
            </a:r>
          </a:p>
        </p:txBody>
      </p:sp>
      <p:sp>
        <p:nvSpPr>
          <p:cNvPr id="4" name="Text Placeholder 3">
            <a:extLst>
              <a:ext uri="{FF2B5EF4-FFF2-40B4-BE49-F238E27FC236}">
                <a16:creationId xmlns:a16="http://schemas.microsoft.com/office/drawing/2014/main" id="{49EEC908-1669-4040-B78A-7C3096A7E638}"/>
              </a:ext>
            </a:extLst>
          </p:cNvPr>
          <p:cNvSpPr>
            <a:spLocks noGrp="1"/>
          </p:cNvSpPr>
          <p:nvPr>
            <p:ph type="body" sz="half" idx="2"/>
          </p:nvPr>
        </p:nvSpPr>
        <p:spPr>
          <a:xfrm>
            <a:off x="1146705" y="1497495"/>
            <a:ext cx="8712912" cy="4750903"/>
          </a:xfrm>
        </p:spPr>
        <p:txBody>
          <a:bodyPr>
            <a:normAutofit/>
          </a:bodyPr>
          <a:lstStyle/>
          <a:p>
            <a:r>
              <a:rPr lang="en-IN" sz="2000" dirty="0">
                <a:solidFill>
                  <a:schemeClr val="bg1">
                    <a:lumMod val="85000"/>
                    <a:lumOff val="15000"/>
                  </a:schemeClr>
                </a:solidFill>
                <a:latin typeface="Lato" panose="020F0502020204030203" pitchFamily="34" charset="0"/>
              </a:rPr>
              <a:t>Smart meters pose these </a:t>
            </a:r>
            <a:r>
              <a:rPr lang="en-IN" sz="2000" b="1" dirty="0">
                <a:solidFill>
                  <a:schemeClr val="bg1">
                    <a:lumMod val="85000"/>
                    <a:lumOff val="15000"/>
                  </a:schemeClr>
                </a:solidFill>
                <a:latin typeface="Lato" panose="020F0502020204030203" pitchFamily="34" charset="0"/>
              </a:rPr>
              <a:t>challenges to consumers</a:t>
            </a:r>
            <a:r>
              <a:rPr lang="en-IN" sz="2000" dirty="0">
                <a:solidFill>
                  <a:schemeClr val="bg1">
                    <a:lumMod val="85000"/>
                    <a:lumOff val="15000"/>
                  </a:schemeClr>
                </a:solidFill>
                <a:latin typeface="Lato" panose="020F0502020204030203" pitchFamily="34" charset="0"/>
              </a:rPr>
              <a:t>...</a:t>
            </a:r>
          </a:p>
          <a:p>
            <a:pPr marL="342900" indent="-342900">
              <a:buFont typeface="Wingdings" panose="05000000000000000000" pitchFamily="2" charset="2"/>
              <a:buChar char="Ø"/>
            </a:pPr>
            <a:r>
              <a:rPr lang="en-IN" sz="2000" dirty="0">
                <a:solidFill>
                  <a:schemeClr val="bg1">
                    <a:lumMod val="85000"/>
                    <a:lumOff val="15000"/>
                  </a:schemeClr>
                </a:solidFill>
                <a:latin typeface="Lato" panose="020F0502020204030203" pitchFamily="34" charset="0"/>
              </a:rPr>
              <a:t>Verifying that the new meter is accurate.</a:t>
            </a:r>
          </a:p>
          <a:p>
            <a:pPr marL="342900" indent="-342900">
              <a:buFont typeface="Wingdings" panose="05000000000000000000" pitchFamily="2" charset="2"/>
              <a:buChar char="Ø"/>
            </a:pPr>
            <a:r>
              <a:rPr lang="en-IN" sz="2000" dirty="0">
                <a:solidFill>
                  <a:schemeClr val="bg1">
                    <a:lumMod val="85000"/>
                    <a:lumOff val="15000"/>
                  </a:schemeClr>
                </a:solidFill>
                <a:latin typeface="Lato" panose="020F0502020204030203" pitchFamily="34" charset="0"/>
              </a:rPr>
              <a:t>Protecting the privacy of their personal data.</a:t>
            </a:r>
          </a:p>
          <a:p>
            <a:pPr marL="342900" indent="-342900">
              <a:buFont typeface="Wingdings" panose="05000000000000000000" pitchFamily="2" charset="2"/>
              <a:buChar char="Ø"/>
            </a:pPr>
            <a:r>
              <a:rPr lang="en-IN" sz="2000" dirty="0">
                <a:solidFill>
                  <a:schemeClr val="bg1">
                    <a:lumMod val="85000"/>
                    <a:lumOff val="15000"/>
                  </a:schemeClr>
                </a:solidFill>
                <a:latin typeface="Lato" panose="020F0502020204030203" pitchFamily="34" charset="0"/>
              </a:rPr>
              <a:t>Paying additional fees for the new meter.</a:t>
            </a:r>
          </a:p>
          <a:p>
            <a:r>
              <a:rPr lang="en-IN" sz="3200" b="1" u="sng" dirty="0">
                <a:solidFill>
                  <a:schemeClr val="bg2"/>
                </a:solidFill>
                <a:latin typeface="+mj-lt"/>
              </a:rPr>
              <a:t>CONCLUSION</a:t>
            </a:r>
          </a:p>
          <a:p>
            <a:pPr marL="457200" indent="-457200">
              <a:buFont typeface="Arial" panose="020B0604020202020204" pitchFamily="34" charset="0"/>
              <a:buChar char="•"/>
            </a:pPr>
            <a:r>
              <a:rPr lang="en-IN" sz="2000" dirty="0">
                <a:solidFill>
                  <a:schemeClr val="bg1">
                    <a:lumMod val="85000"/>
                    <a:lumOff val="15000"/>
                  </a:schemeClr>
                </a:solidFill>
                <a:latin typeface="Lato" panose="020F0502020204030203" pitchFamily="34" charset="0"/>
              </a:rPr>
              <a:t>We will be developing our security to the maximum so that none can act as a third party.</a:t>
            </a:r>
          </a:p>
          <a:p>
            <a:pPr marL="457200" indent="-457200">
              <a:buFont typeface="Arial" panose="020B0604020202020204" pitchFamily="34" charset="0"/>
              <a:buChar char="•"/>
            </a:pPr>
            <a:r>
              <a:rPr lang="en-IN" sz="2000" dirty="0">
                <a:solidFill>
                  <a:schemeClr val="bg1">
                    <a:lumMod val="85000"/>
                    <a:lumOff val="15000"/>
                  </a:schemeClr>
                </a:solidFill>
                <a:latin typeface="Lato" panose="020F0502020204030203" pitchFamily="34" charset="0"/>
              </a:rPr>
              <a:t> In future the amount to be paid will be sent as a SMS/mail to customers and also a warning indicating more no "of units consumed.</a:t>
            </a:r>
          </a:p>
          <a:p>
            <a:endParaRPr lang="en-IN" sz="3200" b="1" u="sng" dirty="0">
              <a:solidFill>
                <a:schemeClr val="bg2"/>
              </a:solidFill>
              <a:latin typeface="Lato" panose="020F0502020204030203" pitchFamily="34" charset="0"/>
            </a:endParaRPr>
          </a:p>
        </p:txBody>
      </p:sp>
    </p:spTree>
    <p:extLst>
      <p:ext uri="{BB962C8B-B14F-4D97-AF65-F5344CB8AC3E}">
        <p14:creationId xmlns:p14="http://schemas.microsoft.com/office/powerpoint/2010/main" val="3432024996"/>
      </p:ext>
    </p:extLst>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A7917C6-E2FB-4FB7-9077-AE29CC954D00}"/>
              </a:ext>
            </a:extLst>
          </p:cNvPr>
          <p:cNvPicPr>
            <a:picLocks noChangeAspect="1"/>
          </p:cNvPicPr>
          <p:nvPr/>
        </p:nvPicPr>
        <p:blipFill>
          <a:blip r:embed="rId2"/>
          <a:stretch>
            <a:fillRect/>
          </a:stretch>
        </p:blipFill>
        <p:spPr>
          <a:xfrm>
            <a:off x="2491410" y="2017644"/>
            <a:ext cx="6228520" cy="2452480"/>
          </a:xfrm>
          <a:prstGeom prst="rect">
            <a:avLst/>
          </a:prstGeom>
        </p:spPr>
      </p:pic>
    </p:spTree>
    <p:extLst>
      <p:ext uri="{BB962C8B-B14F-4D97-AF65-F5344CB8AC3E}">
        <p14:creationId xmlns:p14="http://schemas.microsoft.com/office/powerpoint/2010/main" val="304987199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224</TotalTime>
  <Words>505</Words>
  <Application>Microsoft Office PowerPoint</Application>
  <PresentationFormat>Widescreen</PresentationFormat>
  <Paragraphs>44</Paragraphs>
  <Slides>9</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9</vt:i4>
      </vt:variant>
    </vt:vector>
  </HeadingPairs>
  <TitlesOfParts>
    <vt:vector size="25" baseType="lpstr">
      <vt:lpstr>Agency FB</vt:lpstr>
      <vt:lpstr>Arial</vt:lpstr>
      <vt:lpstr>Century</vt:lpstr>
      <vt:lpstr>Consolas</vt:lpstr>
      <vt:lpstr>Courier New</vt:lpstr>
      <vt:lpstr>Dubai Medium</vt:lpstr>
      <vt:lpstr>Gabriola</vt:lpstr>
      <vt:lpstr>Impact</vt:lpstr>
      <vt:lpstr>Lato</vt:lpstr>
      <vt:lpstr>Mistral</vt:lpstr>
      <vt:lpstr>MV Boli</vt:lpstr>
      <vt:lpstr>Segoe UI Emoji</vt:lpstr>
      <vt:lpstr>Trebuchet MS</vt:lpstr>
      <vt:lpstr>Tw Cen MT</vt:lpstr>
      <vt:lpstr>Wingdings</vt:lpstr>
      <vt:lpstr>Circuit</vt:lpstr>
      <vt:lpstr>Smart Electric Meter</vt:lpstr>
      <vt:lpstr>Components</vt:lpstr>
      <vt:lpstr>Current and voltage sensor</vt:lpstr>
      <vt:lpstr>Arduino Uno board</vt:lpstr>
      <vt:lpstr>Prototype</vt:lpstr>
      <vt:lpstr>Coding</vt:lpstr>
      <vt:lpstr>Advantages </vt:lpstr>
      <vt:lpstr>Disadvantages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Electric Meter</dc:title>
  <dc:creator>Rahul Suresh</dc:creator>
  <cp:lastModifiedBy>Rahul Suresh</cp:lastModifiedBy>
  <cp:revision>22</cp:revision>
  <dcterms:created xsi:type="dcterms:W3CDTF">2017-11-22T11:04:29Z</dcterms:created>
  <dcterms:modified xsi:type="dcterms:W3CDTF">2017-11-25T10:56:51Z</dcterms:modified>
</cp:coreProperties>
</file>